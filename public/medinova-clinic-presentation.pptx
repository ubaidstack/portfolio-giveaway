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_clean_modern_product_website_showcase_scene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914400"/>
            <a:ext cx="8823960" cy="496611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" y="658368"/>
            <a:ext cx="1508760" cy="310896"/>
          </a:xfrm>
          <a:prstGeom prst="roundRect">
            <a:avLst/>
          </a:prstGeom>
          <a:solidFill>
            <a:srgbClr val="F2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0"/>
          <a:lstStyle/>
          <a:p>
            <a:pPr algn="ctr"/>
            <a:r>
              <a:rPr sz="1000" b="1">
                <a:solidFill>
                  <a:srgbClr val="087DE5"/>
                </a:solidFill>
                <a:latin typeface="Aptos"/>
              </a:rPr>
              <a:t>WEB DESIGN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388620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800" b="1">
                <a:solidFill>
                  <a:srgbClr val="0B2D52"/>
                </a:solidFill>
                <a:latin typeface="Aptos"/>
              </a:rPr>
              <a:t>MediNova
Clinic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907792"/>
            <a:ext cx="3429000" cy="7772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087DE5"/>
                </a:solidFill>
                <a:latin typeface="Aptos"/>
              </a:rPr>
              <a:t>Better Health.
Brighter Tomorrow.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3977639"/>
            <a:ext cx="320040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06984"/>
                </a:solidFill>
                <a:latin typeface="Aptos"/>
              </a:rPr>
              <a:t>A modern multi-specialty healthcare website built for clarity, trust, and easier appointment requests.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4983480"/>
            <a:ext cx="713232" cy="54864"/>
          </a:xfrm>
          <a:prstGeom prst="rect">
            <a:avLst/>
          </a:prstGeom>
          <a:solidFill>
            <a:srgbClr val="17B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5257800"/>
            <a:ext cx="31089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0B2D52"/>
                </a:solidFill>
                <a:latin typeface="Aptos"/>
              </a:rPr>
              <a:t>HTML  •  CSS  •  VANILLA 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506984"/>
                </a:solidFill>
                <a:latin typeface="Aptos"/>
              </a:rPr>
              <a:t>MEDINOVA CLINIC  •  PORTFOLIO CASE STUDY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87DE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280160" cy="310896"/>
          </a:xfrm>
          <a:prstGeom prst="roundRect">
            <a:avLst/>
          </a:prstGeom>
          <a:solidFill>
            <a:srgbClr val="F2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0"/>
          <a:lstStyle/>
          <a:p>
            <a:pPr algn="ctr"/>
            <a:r>
              <a:rPr sz="1000" b="1">
                <a:solidFill>
                  <a:srgbClr val="087DE5"/>
                </a:solidFill>
                <a:latin typeface="Aptos"/>
              </a:rPr>
              <a:t>01 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65836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B2D52"/>
                </a:solidFill>
                <a:latin typeface="Aptos"/>
              </a:rPr>
              <a:t>Healthcare, made easier to navigate.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56692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506984"/>
                </a:solidFill>
                <a:latin typeface="Aptos"/>
              </a:rPr>
              <a:t>MediNova Clinic is a responsive multi-specialty clinic website concept designed to present medical services, introduce doctors, and guide visitors toward an appointment request.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88920"/>
            <a:ext cx="5303520" cy="1234440"/>
          </a:xfrm>
          <a:prstGeom prst="roundRect">
            <a:avLst/>
          </a:prstGeom>
          <a:solidFill>
            <a:srgbClr val="F2F9FE"/>
          </a:solidFill>
          <a:ln>
            <a:solidFill>
              <a:srgbClr val="DC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953512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87DE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2935224"/>
            <a:ext cx="4251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B2D52"/>
                </a:solidFill>
                <a:latin typeface="Aptos"/>
              </a:rPr>
              <a:t>Clear first impression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3291839"/>
            <a:ext cx="4251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06984"/>
                </a:solidFill>
                <a:latin typeface="Aptos"/>
              </a:rPr>
              <a:t>A confident hero section, concise messaging, and clear calls to 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2788920"/>
            <a:ext cx="5303520" cy="1234440"/>
          </a:xfrm>
          <a:prstGeom prst="roundRect">
            <a:avLst/>
          </a:prstGeom>
          <a:solidFill>
            <a:srgbClr val="F2F9FE"/>
          </a:solidFill>
          <a:ln>
            <a:solidFill>
              <a:srgbClr val="DC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953512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87DE5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6872" y="2935224"/>
            <a:ext cx="4251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B2D52"/>
                </a:solidFill>
                <a:latin typeface="Aptos"/>
              </a:rPr>
              <a:t>Services at a glance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3291839"/>
            <a:ext cx="4251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06984"/>
                </a:solidFill>
                <a:latin typeface="Aptos"/>
              </a:rPr>
              <a:t>A structured specialty grid helps visitors quickly find relevant care.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43400"/>
            <a:ext cx="5303520" cy="1234440"/>
          </a:xfrm>
          <a:prstGeom prst="roundRect">
            <a:avLst/>
          </a:prstGeom>
          <a:solidFill>
            <a:srgbClr val="F2F9FE"/>
          </a:solidFill>
          <a:ln>
            <a:solidFill>
              <a:srgbClr val="DC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507992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87DE5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19" y="4489704"/>
            <a:ext cx="4251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B2D52"/>
                </a:solidFill>
                <a:latin typeface="Aptos"/>
              </a:rPr>
              <a:t>Appointment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19" y="4846320"/>
            <a:ext cx="4251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06984"/>
                </a:solidFill>
                <a:latin typeface="Aptos"/>
              </a:rPr>
              <a:t>A front-end demo form with field validation and honest confirmation feedback.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4343400"/>
            <a:ext cx="5303520" cy="1234440"/>
          </a:xfrm>
          <a:prstGeom prst="roundRect">
            <a:avLst/>
          </a:prstGeom>
          <a:solidFill>
            <a:srgbClr val="F2F9FE"/>
          </a:solidFill>
          <a:ln>
            <a:solidFill>
              <a:srgbClr val="DC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507992"/>
            <a:ext cx="43891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87DE5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4489704"/>
            <a:ext cx="42519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0B2D52"/>
                </a:solidFill>
                <a:latin typeface="Aptos"/>
              </a:rPr>
              <a:t>Responsive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6872" y="4846320"/>
            <a:ext cx="425196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506984"/>
                </a:solidFill>
                <a:latin typeface="Aptos"/>
              </a:rPr>
              <a:t>Layouts and navigation adapted for desktop, tablet, and mobile screens.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506984"/>
                </a:solidFill>
                <a:latin typeface="Aptos"/>
              </a:rPr>
              <a:t>MEDINOVA CLINIC  •  PORTFOLIO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87DE5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417320" cy="310896"/>
          </a:xfrm>
          <a:prstGeom prst="roundRect">
            <a:avLst/>
          </a:prstGeom>
          <a:solidFill>
            <a:srgbClr val="F2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0"/>
          <a:lstStyle/>
          <a:p>
            <a:pPr algn="ctr"/>
            <a:r>
              <a:rPr sz="1000" b="1">
                <a:solidFill>
                  <a:srgbClr val="087DE5"/>
                </a:solidFill>
                <a:latin typeface="Aptos"/>
              </a:rPr>
              <a:t>02 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1323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B2D52"/>
                </a:solidFill>
                <a:latin typeface="Aptos"/>
              </a:rPr>
              <a:t>Calm, clear, and confidence-building.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18488"/>
            <a:ext cx="713232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06984"/>
                </a:solidFill>
                <a:latin typeface="Aptos"/>
              </a:rPr>
              <a:t>A restrained medical palette with strong contrast, soft surfaces, and consistent components.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423160"/>
            <a:ext cx="2450592" cy="1097280"/>
          </a:xfrm>
          <a:prstGeom prst="roundRect">
            <a:avLst/>
          </a:prstGeom>
          <a:solidFill>
            <a:srgbClr val="08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3657600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B2D52"/>
                </a:solidFill>
                <a:latin typeface="Aptos"/>
              </a:rPr>
              <a:t>Medical blue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50208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06984"/>
                </a:solidFill>
                <a:latin typeface="Aptos"/>
              </a:rPr>
              <a:t>#087DE5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287" y="2423160"/>
            <a:ext cx="2450592" cy="1097280"/>
          </a:xfrm>
          <a:prstGeom prst="roundRect">
            <a:avLst/>
          </a:prstGeom>
          <a:solidFill>
            <a:srgbClr val="0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7" y="3657600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B2D52"/>
                </a:solidFill>
                <a:latin typeface="Aptos"/>
              </a:rPr>
              <a:t>Deep navy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47287" y="3950208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06984"/>
                </a:solidFill>
                <a:latin typeface="Aptos"/>
              </a:rPr>
              <a:t>#0B2D52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7" y="2423160"/>
            <a:ext cx="2450592" cy="1097280"/>
          </a:xfrm>
          <a:prstGeom prst="roundRect">
            <a:avLst/>
          </a:prstGeom>
          <a:solidFill>
            <a:srgbClr val="F2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7" y="3657600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B2D52"/>
                </a:solidFill>
                <a:latin typeface="Aptos"/>
              </a:rPr>
              <a:t>Soft 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3950208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06984"/>
                </a:solidFill>
                <a:latin typeface="Aptos"/>
              </a:rPr>
              <a:t>#F2F9FE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5128" y="2423160"/>
            <a:ext cx="2450592" cy="1097280"/>
          </a:xfrm>
          <a:prstGeom prst="roundRect">
            <a:avLst/>
          </a:prstGeom>
          <a:solidFill>
            <a:srgbClr val="17B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25128" y="3657600"/>
            <a:ext cx="2468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0B2D52"/>
                </a:solidFill>
                <a:latin typeface="Aptos"/>
              </a:rPr>
              <a:t>Teal accent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3950208"/>
            <a:ext cx="24688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06984"/>
                </a:solidFill>
                <a:latin typeface="Aptos"/>
              </a:rPr>
              <a:t>#17B7B0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617720"/>
            <a:ext cx="10881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18888"/>
            <a:ext cx="429768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0B2D52"/>
                </a:solidFill>
                <a:latin typeface="Aptos"/>
              </a:rPr>
              <a:t>Your Health. Our Priority.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6583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06984"/>
                </a:solidFill>
                <a:latin typeface="Aptos"/>
              </a:rPr>
              <a:t>Readable type • generous spacing • clear primary actions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5029200"/>
            <a:ext cx="1920240" cy="310896"/>
          </a:xfrm>
          <a:prstGeom prst="roundRect">
            <a:avLst/>
          </a:prstGeom>
          <a:solidFill>
            <a:srgbClr val="08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BOOK APPOINTMENT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506984"/>
                </a:solidFill>
                <a:latin typeface="Aptos"/>
              </a:rPr>
              <a:t>MEDINOVA CLINIC  •  PORTFOLIO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87DE5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417320" cy="310896"/>
          </a:xfrm>
          <a:prstGeom prst="roundRect">
            <a:avLst/>
          </a:prstGeom>
          <a:solidFill>
            <a:srgbClr val="F2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0"/>
          <a:lstStyle/>
          <a:p>
            <a:pPr algn="ctr"/>
            <a:r>
              <a:rPr sz="1000" b="1">
                <a:solidFill>
                  <a:srgbClr val="087DE5"/>
                </a:solidFill>
                <a:latin typeface="Aptos"/>
              </a:rPr>
              <a:t>03 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768096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B2D52"/>
                </a:solidFill>
                <a:latin typeface="Aptos"/>
              </a:rPr>
              <a:t>Designed around the patient journey.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865376"/>
            <a:ext cx="502920" cy="502920"/>
          </a:xfrm>
          <a:prstGeom prst="ellipse">
            <a:avLst/>
          </a:prstGeom>
          <a:solidFill>
            <a:srgbClr val="F2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3852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87DE5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99032" y="182880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D52"/>
                </a:solidFill>
                <a:latin typeface="Aptos"/>
              </a:rPr>
              <a:t>Medical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9032" y="2267712"/>
            <a:ext cx="43891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06984"/>
                </a:solidFill>
                <a:latin typeface="Aptos"/>
              </a:rPr>
              <a:t>Ten specialty categories, from General Medicine and Cardiology to ENT and Ophthalmology.</a:t>
            </a:r>
          </a:p>
        </p:txBody>
      </p:sp>
      <p:sp>
        <p:nvSpPr>
          <p:cNvPr id="9" name="Oval 8"/>
          <p:cNvSpPr/>
          <p:nvPr/>
        </p:nvSpPr>
        <p:spPr>
          <a:xfrm>
            <a:off x="6217920" y="1865376"/>
            <a:ext cx="502920" cy="502920"/>
          </a:xfrm>
          <a:prstGeom prst="ellipse">
            <a:avLst/>
          </a:prstGeom>
          <a:solidFill>
            <a:srgbClr val="F2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93852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87DE5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1152" y="182880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D52"/>
                </a:solidFill>
                <a:latin typeface="Aptos"/>
              </a:rPr>
              <a:t>Doctor profiles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1152" y="2267712"/>
            <a:ext cx="43891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06984"/>
                </a:solidFill>
                <a:latin typeface="Aptos"/>
              </a:rPr>
              <a:t>Dedicated profiles show specialty and experience details to help visitors explore the team.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739896"/>
            <a:ext cx="502920" cy="502920"/>
          </a:xfrm>
          <a:prstGeom prst="ellipse">
            <a:avLst/>
          </a:prstGeom>
          <a:solidFill>
            <a:srgbClr val="F2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1304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87DE5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370332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D52"/>
                </a:solidFill>
                <a:latin typeface="Aptos"/>
              </a:rPr>
              <a:t>Appointment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9032" y="4142231"/>
            <a:ext cx="43891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06984"/>
                </a:solidFill>
                <a:latin typeface="Aptos"/>
              </a:rPr>
              <a:t>Department and doctor selection, preferred date/time, and field-level validation.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0" y="3739896"/>
            <a:ext cx="502920" cy="502920"/>
          </a:xfrm>
          <a:prstGeom prst="ellipse">
            <a:avLst/>
          </a:prstGeom>
          <a:solidFill>
            <a:srgbClr val="F2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381304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087DE5"/>
                </a:solidFill>
                <a:latin typeface="Apto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3703320"/>
            <a:ext cx="43891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0B2D52"/>
                </a:solidFill>
                <a:latin typeface="Aptos"/>
              </a:rPr>
              <a:t>Trust &amp; contact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4142231"/>
            <a:ext cx="43891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506984"/>
                </a:solidFill>
                <a:latin typeface="Aptos"/>
              </a:rPr>
              <a:t>About, clinic benefits, testimonials, contact details, and clear next steps.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806440"/>
            <a:ext cx="106984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506984"/>
                </a:solidFill>
                <a:latin typeface="Aptos"/>
              </a:rPr>
              <a:t>Portfolio note: the appointment form is a frontend demonstration; submissions are not sent to a clinic.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506984"/>
                </a:solidFill>
                <a:latin typeface="Aptos"/>
              </a:rPr>
              <a:t>MEDINOVA CLINIC  •  PORTFOLIO CASE STUDY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87DE5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4360" y="502920"/>
            <a:ext cx="1645920" cy="310896"/>
          </a:xfrm>
          <a:prstGeom prst="roundRect">
            <a:avLst/>
          </a:prstGeom>
          <a:solidFill>
            <a:srgbClr val="F2F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0"/>
          <a:lstStyle/>
          <a:p>
            <a:pPr algn="ctr"/>
            <a:r>
              <a:rPr sz="1000" b="1">
                <a:solidFill>
                  <a:srgbClr val="087DE5"/>
                </a:solidFill>
                <a:latin typeface="Aptos"/>
              </a:rPr>
              <a:t>04  RESPONSIVE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68580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800" b="1">
                <a:solidFill>
                  <a:srgbClr val="0B2D52"/>
                </a:solidFill>
                <a:latin typeface="Aptos"/>
              </a:rPr>
              <a:t>One experience. Every screen.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627632"/>
            <a:ext cx="457200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506984"/>
                </a:solidFill>
                <a:latin typeface="Aptos"/>
              </a:rPr>
              <a:t>The layout adapts across desktop, tablet, and mobile, keeping navigation, service discovery, and appointment actions easy to reach.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2743200"/>
            <a:ext cx="1691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2926080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B2D52"/>
                </a:solidFill>
                <a:latin typeface="Aptos"/>
              </a:rPr>
              <a:t>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33288" y="3310128"/>
            <a:ext cx="1463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506984"/>
                </a:solidFill>
                <a:latin typeface="Aptos"/>
              </a:rPr>
              <a:t>Wide layouts and multi-column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2743200"/>
            <a:ext cx="1691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53527" y="2926080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B2D52"/>
                </a:solidFill>
                <a:latin typeface="Aptos"/>
              </a:rPr>
              <a:t>Tablet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53527" y="3310128"/>
            <a:ext cx="1463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506984"/>
                </a:solidFill>
                <a:latin typeface="Aptos"/>
              </a:rPr>
              <a:t>Balanced spacing and flexible grids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64040" y="2743200"/>
            <a:ext cx="169164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73767" y="2926080"/>
            <a:ext cx="14630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0B2D52"/>
                </a:solidFill>
                <a:latin typeface="Aptos"/>
              </a:rPr>
              <a:t>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7" y="3310128"/>
            <a:ext cx="14630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>
                <a:solidFill>
                  <a:srgbClr val="506984"/>
                </a:solidFill>
                <a:latin typeface="Aptos"/>
              </a:rPr>
              <a:t>Stacked content and touch-friendly controls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4937760"/>
            <a:ext cx="11887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0"/>
          <a:lstStyle/>
          <a:p>
            <a:pPr algn="ctr"/>
            <a:r>
              <a:rPr sz="1000" b="1">
                <a:solidFill>
                  <a:srgbClr val="087DE5"/>
                </a:solidFill>
                <a:latin typeface="Aptos"/>
              </a:rPr>
              <a:t>HTML5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65960" y="4937760"/>
            <a:ext cx="118872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0"/>
          <a:lstStyle/>
          <a:p>
            <a:pPr algn="ctr"/>
            <a:r>
              <a:rPr sz="1000" b="1">
                <a:solidFill>
                  <a:srgbClr val="087DE5"/>
                </a:solidFill>
                <a:latin typeface="Aptos"/>
              </a:rPr>
              <a:t>CSS3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73552" y="4937760"/>
            <a:ext cx="2194560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0"/>
          <a:lstStyle/>
          <a:p>
            <a:pPr algn="ctr"/>
            <a:r>
              <a:rPr sz="1000" b="1">
                <a:solidFill>
                  <a:srgbClr val="087DE5"/>
                </a:solidFill>
                <a:latin typeface="Aptos"/>
              </a:rPr>
              <a:t>VANILLA JS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532120"/>
            <a:ext cx="47548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0B2D52"/>
                </a:solidFill>
                <a:latin typeface="Aptos"/>
              </a:rPr>
              <a:t>Built with lightweight, framework-free frontend technology.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506984"/>
                </a:solidFill>
                <a:latin typeface="Aptos"/>
              </a:rPr>
              <a:t>MEDINOVA CLINIC  •  PORTFOLIO CASE STUDY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87DE5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658368"/>
            <a:ext cx="1371600" cy="310896"/>
          </a:xfrm>
          <a:prstGeom prst="roundRect">
            <a:avLst/>
          </a:prstGeom>
          <a:solidFill>
            <a:srgbClr val="1D4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18288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  PROJECT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640080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Explore MediNova Clinic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148840"/>
            <a:ext cx="566928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D2E5F5"/>
                </a:solidFill>
                <a:latin typeface="Aptos"/>
              </a:rPr>
              <a:t>A portfolio project focused on clean healthcare UI, responsive layouts, and accessible front-end interactions.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246120"/>
            <a:ext cx="6858000" cy="1234440"/>
          </a:xfrm>
          <a:prstGeom prst="roundRect">
            <a:avLst/>
          </a:prstGeom>
          <a:solidFill>
            <a:srgbClr val="123960"/>
          </a:solidFill>
          <a:ln>
            <a:solidFill>
              <a:srgbClr val="2D5C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93008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>
                <a:solidFill>
                  <a:srgbClr val="17B7B0"/>
                </a:solidFill>
                <a:latin typeface="Aptos"/>
              </a:rPr>
              <a:t>LIVE WEBSITE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22191"/>
            <a:ext cx="62179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https://medinovaclinic.vercel.app/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4892040"/>
            <a:ext cx="6949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D2E5F5"/>
                </a:solidFill>
                <a:latin typeface="Aptos"/>
              </a:rPr>
              <a:t>Next: add repository URL and real project screenshots before publishing this case study.</a:t>
            </a:r>
          </a:p>
        </p:txBody>
      </p:sp>
      <p:sp>
        <p:nvSpPr>
          <p:cNvPr id="10" name="Oval 9"/>
          <p:cNvSpPr/>
          <p:nvPr/>
        </p:nvSpPr>
        <p:spPr>
          <a:xfrm>
            <a:off x="8412480" y="1280160"/>
            <a:ext cx="2103120" cy="2103120"/>
          </a:xfrm>
          <a:prstGeom prst="ellipse">
            <a:avLst/>
          </a:prstGeom>
          <a:solidFill>
            <a:srgbClr val="08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0" y="3017520"/>
            <a:ext cx="1143000" cy="1143000"/>
          </a:xfrm>
          <a:prstGeom prst="ellipse">
            <a:avLst/>
          </a:prstGeom>
          <a:solidFill>
            <a:srgbClr val="17B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55279" y="4114800"/>
            <a:ext cx="640080" cy="640080"/>
          </a:xfrm>
          <a:prstGeom prst="ellipse">
            <a:avLst/>
          </a:prstGeom>
          <a:solidFill>
            <a:srgbClr val="6EB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5577840"/>
            <a:ext cx="3017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BETTER HEALTH. BRIGHTER TOMORROW.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45720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1">
                <a:solidFill>
                  <a:srgbClr val="506984"/>
                </a:solidFill>
                <a:latin typeface="Aptos"/>
              </a:rPr>
              <a:t>MEDINOVA CLINIC  •  PORTFOLIO CASE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92240"/>
            <a:ext cx="5029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087DE5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